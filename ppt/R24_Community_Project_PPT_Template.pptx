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22E713D-B38C-44B3-AA1B-BF7E4901F54A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  <p14:sldId id="270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C77DDF-0A27-67B6-5BDF-F285B4C717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F2C14-519F-1665-5873-A72F25564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B00D6-E1FF-4B73-A053-E585B1FBE90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4DCC8-0A82-FBB1-C5C8-0A3B68A7E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E76C3-C0CF-299E-70A1-6269DB6591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F4E45-0858-4043-A964-1C66277AD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035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34C36-70B1-45F6-9FDE-F1D24E79F56D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F6A76-F437-4B4B-8482-7210935BA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6623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F6A76-F437-4B4B-8482-7210935BA7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904250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CCCB-E175-57DF-24EA-FD7B125D5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CE3B5-1C30-5CEF-2519-0F3E17055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DF157-475F-2413-9A18-8C99B0F3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5323-E29B-4B70-A94E-1594BD5CBD7E}" type="datetime1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620D2-DC7F-B2F2-0EA2-DA548AED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35AC5-403F-A47E-E941-5EEB21D4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4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CD6A-AF0F-7AD6-7A7C-AE6A86E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BD31-11F1-A76F-4F35-D6809691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168E4-CF8E-21D0-0E03-53396B11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94E78-88E1-46A4-AF1B-828B5E375FA2}" type="datetime1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F465C-6C94-5A19-8095-13922281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AA8D-3739-E96E-0A3F-1FFC9B3F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01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5A6B-F1C1-9EB4-A060-5B25A0F3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61C07-B202-8596-07A9-22822C9DF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4F265-5CE9-9191-6286-2C9AE5F0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9717-40FC-4C73-B8FA-A58DAB8A6201}" type="datetime1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1E1B0-75C0-03D7-9824-CA075284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9738F-0524-AB68-D6DB-3A4E3B30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7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F7E3-61D6-8491-1328-714F5970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D3BCC-F5B5-90E7-1B9B-4B86B2286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F7E7-5B74-070A-47CE-41CB8012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22ED-FA86-4920-5DDD-EF5BAB07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21CF7-758A-44DA-BCBF-28E94B183FAA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C7351-93DD-02B8-418D-4758BB52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1A715-8247-0449-9A75-090C2AC0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77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0879-59A2-9993-5923-31956486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4AD61-0E56-D989-0F6E-E2475CED0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878A4-D7B6-8C42-F70F-B46C102B4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0B250-122E-ED60-C1CE-B01FF6F64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70AD3-919D-BA8B-B107-88B0AE5EC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76A1F-60B9-95CE-E92F-BE7C1FBC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9FDD-8BD6-49CA-B47B-D82B5753DDDF}" type="datetime1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5E6BD-7F75-F160-B5AE-BC0CB39A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4F82A-2F5F-AFF5-B7E5-195A9F72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01F4-BED2-1AAD-97E2-15FD1168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9C3BD-B4F1-048A-3697-B165EAC0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71C4-7117-442F-820E-CC01BC240CFF}" type="datetime1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3806D-6534-3CB8-9569-E2F8462C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5F470-2CEF-BAFE-7D89-13162D55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15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61FC1-61B2-0BEC-36EF-3DE62DB9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54E5A-9C4D-4470-846F-ADA8C588B6A9}" type="datetime1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6DB32-5E56-9AF3-6840-1B34E91C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3A9D-2826-6D71-05BE-6B8D4570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0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E002-737C-263E-A4E0-BF90604D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599A4-C8E8-FC9F-25B9-D03380211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CDDF6-A347-9627-45DD-1B0CAA19C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C2D6B-F737-2EBE-5E8C-0BB78FDF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F083-6D5B-4B0A-A053-F75A84FB0730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85B18-D373-F253-5581-CF1C04E3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5C7CE-A6DD-CD7E-7AF4-719C1B64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00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CCD2-0CAD-E143-4AED-BF6232E4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0C940-6F35-3FA0-09D1-81974FB73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33F76-869F-7C98-8621-02EAAF7F9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F9FDD-7956-7A3E-DF1B-E917B4C3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14738-DEA0-4125-998D-ECD817967A89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8230D-B290-ED5F-5C68-CE723BCC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9775D-FAF7-3543-22DF-BD7C5A37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0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5FB7-6D0C-1E16-0A66-E68B9D2C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EE2B5-8C5E-58D4-A3F9-3A3031873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91197-E419-0573-70A8-DE688D37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1ED1-E35F-4D19-85BD-C5B2E1E72F64}" type="datetime1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CDE99-3310-5C8E-4F2A-AC0ACD95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8FA3-7C23-3214-D38F-392AD8DF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8C7CF-4623-DEC8-14AE-619295942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1983F-2C6C-FD2E-187E-44A0B441A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26E63-6CAC-E9E4-BF3F-C256D793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5591-7348-4410-8FD7-DA388D80B05C}" type="datetime1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2C139-7A5D-5405-E52E-049003BE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44655-C0E1-8A45-9962-DEB5CF93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2792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3B46B-1610-0CE6-7155-D123E374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927F-6A1D-B152-1C11-14603B53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B9BDF-D021-93E2-48DC-E3FB251E0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E5703-3C09-48F0-BC15-A8F80091436C}" type="datetime1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4683-C2DB-CF7A-5C79-0094EA7CF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7840-6CAF-B6FA-3558-8E7408C33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1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BAEA-A6E1-3B7C-66B0-6AA9B4168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147" y="1087567"/>
            <a:ext cx="9518554" cy="814592"/>
          </a:xfrm>
        </p:spPr>
        <p:txBody>
          <a:bodyPr>
            <a:normAutofit fontScale="90000"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Community Project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CSE-Artificial Intelligence &amp; Machine Learning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Department: Data Engineering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V    Section: A          Regulation: R24             Course Code: R24MSCSP001</a:t>
            </a:r>
            <a:endParaRPr lang="en-IN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7393A-5152-2239-E68B-758F10844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847" y="1982521"/>
            <a:ext cx="9144000" cy="851288"/>
          </a:xfrm>
        </p:spPr>
        <p:txBody>
          <a:bodyPr>
            <a:normAutofit/>
          </a:bodyPr>
          <a:lstStyle/>
          <a:p>
            <a:pPr algn="just"/>
            <a:r>
              <a:rPr lang="en-IN" sz="2000" b="1">
                <a:latin typeface="Times New Roman"/>
                <a:cs typeface="Times New Roman"/>
              </a:rPr>
              <a:t>Project Title: TransPulse: Smart Transit Orchestration Platform</a:t>
            </a:r>
          </a:p>
          <a:p>
            <a:pPr algn="just"/>
            <a:r>
              <a:rPr lang="en-IN" sz="2000" b="1">
                <a:latin typeface="Times New Roman"/>
                <a:cs typeface="Times New Roman"/>
              </a:rPr>
              <a:t>Batch Number: Batch 12 (CSE-AIML)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0522D6-D17F-C571-6E54-DC1EB5D4F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233022"/>
              </p:ext>
            </p:extLst>
          </p:nvPr>
        </p:nvGraphicFramePr>
        <p:xfrm>
          <a:off x="3123336" y="2841523"/>
          <a:ext cx="6246761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4">
                  <a:extLst>
                    <a:ext uri="{9D8B030D-6E8A-4147-A177-3AD203B41FA5}">
                      <a16:colId xmlns:a16="http://schemas.microsoft.com/office/drawing/2014/main" val="2978184859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193938237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2017919128"/>
                    </a:ext>
                  </a:extLst>
                </a:gridCol>
              </a:tblGrid>
              <a:tr h="28054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Register Number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8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1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24331A4216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BENDI RAJESH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0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2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24331A4265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MATHA VIGNAN VAMSI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44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3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24331A4255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KUDUPUDI LAKSHMI VINAY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2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24331A4234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/>
                          <a:cs typeface="Times New Roman"/>
                        </a:rPr>
                        <a:t>GURALA SRAVAN KUMAR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72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39C9FE-9A55-D878-4113-BB45C8E42B25}"/>
              </a:ext>
            </a:extLst>
          </p:cNvPr>
          <p:cNvSpPr txBox="1"/>
          <p:nvPr/>
        </p:nvSpPr>
        <p:spPr>
          <a:xfrm>
            <a:off x="666564" y="5004620"/>
            <a:ext cx="478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>
                <a:latin typeface="Times New Roman"/>
                <a:cs typeface="Times New Roman"/>
              </a:rPr>
              <a:t>Guide Name: k. amaravathi</a:t>
            </a:r>
          </a:p>
          <a:p>
            <a:r>
              <a:rPr lang="en-IN" sz="1800" b="1">
                <a:latin typeface="Times New Roman"/>
                <a:cs typeface="Times New Roman"/>
              </a:rPr>
              <a:t>Designation: assistant professor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25BDB-B544-A468-80FA-5C328DABA918}"/>
              </a:ext>
            </a:extLst>
          </p:cNvPr>
          <p:cNvSpPr txBox="1"/>
          <p:nvPr/>
        </p:nvSpPr>
        <p:spPr>
          <a:xfrm>
            <a:off x="666564" y="5770433"/>
            <a:ext cx="412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>
                <a:latin typeface="Times New Roman"/>
                <a:cs typeface="Times New Roman"/>
              </a:rPr>
              <a:t>Project Coordinator: k. amaravathi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>
                <a:latin typeface="Times New Roman"/>
                <a:cs typeface="Times New Roman"/>
              </a:rPr>
              <a:t>Designation: assistant professor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228F4-F1C6-996C-1333-E77944D0112F}"/>
              </a:ext>
            </a:extLst>
          </p:cNvPr>
          <p:cNvSpPr txBox="1"/>
          <p:nvPr/>
        </p:nvSpPr>
        <p:spPr>
          <a:xfrm>
            <a:off x="7441620" y="5767836"/>
            <a:ext cx="3856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V. Jyothi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Associate Professor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A81387-CAA0-B664-E5E7-652103F74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90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0921-4932-359B-99DF-4AA4E8AA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48609-A98A-9DB7-F9E6-DD71B73C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Context: </a:t>
            </a:r>
            <a:r>
              <a:rPr lang="en-IN" sz="1500" dirty="0">
                <a:latin typeface="Times New Roman"/>
                <a:cs typeface="Times New Roman"/>
              </a:rPr>
              <a:t>Public transit systems suffer from scheduling opacity, tracking errors, and high operational overhead.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Platform: </a:t>
            </a:r>
            <a:r>
              <a:rPr lang="en-IN" sz="1500" dirty="0" err="1">
                <a:latin typeface="Times New Roman"/>
                <a:cs typeface="Times New Roman"/>
              </a:rPr>
              <a:t>TransPulse</a:t>
            </a:r>
            <a:r>
              <a:rPr lang="en-IN" sz="1500" dirty="0">
                <a:latin typeface="Times New Roman"/>
                <a:cs typeface="Times New Roman"/>
              </a:rPr>
              <a:t xml:space="preserve"> is a production-grade mobility platform that connects passengers, drivers, and administrators.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Backend Integration: </a:t>
            </a:r>
            <a:r>
              <a:rPr lang="en-IN" sz="1500" dirty="0">
                <a:latin typeface="Times New Roman"/>
                <a:cs typeface="Times New Roman"/>
              </a:rPr>
              <a:t>Synthesizes static GTFS schedules with high-frequency live GPS coordinate telemetry.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Key Engine: </a:t>
            </a:r>
            <a:r>
              <a:rPr lang="en-IN" sz="1500" dirty="0">
                <a:latin typeface="Times New Roman"/>
                <a:cs typeface="Times New Roman"/>
              </a:rPr>
              <a:t xml:space="preserve">Employs geodetic stop-progression calculations and smoothed speed formulas for robust delay </a:t>
            </a:r>
            <a:r>
              <a:rPr lang="en-IN" sz="1500" dirty="0" err="1">
                <a:latin typeface="Times New Roman"/>
                <a:cs typeface="Times New Roman"/>
              </a:rPr>
              <a:t>modeling</a:t>
            </a:r>
            <a:r>
              <a:rPr lang="en-IN" sz="1500" dirty="0">
                <a:latin typeface="Times New Roman"/>
                <a:cs typeface="Times New Roman"/>
              </a:rPr>
              <a:t>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Offline Support: </a:t>
            </a:r>
            <a:r>
              <a:rPr lang="en-IN" sz="1500" dirty="0">
                <a:latin typeface="Times New Roman"/>
                <a:cs typeface="Times New Roman"/>
              </a:rPr>
              <a:t>PWA-enabled app ensuring transit tracking resilience under limited regional network conditions.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5E744-4F16-AB16-DDA3-CC5C491B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4F2A-A0F5-462A-B1D5-45ADC5AE6C5E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AC38-09FE-7208-D128-A2197A2C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2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7E8606-96F4-B880-AF30-0C51589D86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042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A163-6249-C153-BF1D-0EAD5B5D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E6A8-1D4F-F059-0DFB-EE7106621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Modern Smart Transit: </a:t>
            </a:r>
            <a:r>
              <a:rPr lang="en-IN" sz="1500" dirty="0">
                <a:latin typeface="Times New Roman"/>
                <a:cs typeface="Times New Roman"/>
              </a:rPr>
              <a:t>Transitioning public fleet coordination into a high-visibility, responsive tracking ecosystem.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Unified Platform: </a:t>
            </a:r>
            <a:r>
              <a:rPr lang="en-IN" sz="1500" dirty="0">
                <a:latin typeface="Times New Roman"/>
                <a:cs typeface="Times New Roman"/>
              </a:rPr>
              <a:t>Single-pane command interface for fleet administrators, passenger clients, and drivers.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AP Smart Mobility: </a:t>
            </a:r>
            <a:r>
              <a:rPr lang="en-IN" sz="1500" dirty="0">
                <a:latin typeface="Times New Roman"/>
                <a:cs typeface="Times New Roman"/>
              </a:rPr>
              <a:t>Tailored to Andhra Pradesh geography covering 26 districts and 8000+ active routes.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Centralized Orchestration: </a:t>
            </a:r>
            <a:r>
              <a:rPr lang="en-IN" sz="1500" dirty="0">
                <a:latin typeface="Times New Roman"/>
                <a:cs typeface="Times New Roman"/>
              </a:rPr>
              <a:t>Integrates live telemetry to optimize dispatcher workflows and commuter predictability.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0161D-19CD-E770-288B-8FB741A1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162A8-FB7E-4CF4-AE0B-1836D97118EA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027E8-23A5-F915-61C5-AC94CD2C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744142-7547-0C57-B36F-46CAF270E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244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F1CE-E15D-F045-5F27-8386F788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8444-F448-26A9-5077-57C05FD0C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Commuter Uncertainty: </a:t>
            </a:r>
            <a:r>
              <a:rPr lang="en-IN" sz="1500" dirty="0">
                <a:latin typeface="Times New Roman"/>
                <a:cs typeface="Times New Roman"/>
              </a:rPr>
              <a:t>Passengers lack live visual tracking, leading to extended wait times and transit anxiety.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Erratic Telemetry: </a:t>
            </a:r>
            <a:r>
              <a:rPr lang="en-IN" sz="1500" dirty="0">
                <a:latin typeface="Times New Roman"/>
                <a:cs typeface="Times New Roman"/>
              </a:rPr>
              <a:t>Raw GPS inputs contain high signal jitter and drift, corrupting linear map routes and ETA projections.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Outdated ETA Math: </a:t>
            </a:r>
            <a:r>
              <a:rPr lang="en-IN" sz="1500" dirty="0">
                <a:latin typeface="Times New Roman"/>
                <a:cs typeface="Times New Roman"/>
              </a:rPr>
              <a:t>Standard estimations rely on static distance metrics, ignoring real-time traffic and delays.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Isolated Workflows: </a:t>
            </a:r>
            <a:r>
              <a:rPr lang="en-IN" sz="1500" dirty="0">
                <a:latin typeface="Times New Roman"/>
                <a:cs typeface="Times New Roman"/>
              </a:rPr>
              <a:t>No synchronized channel between administrative dispatches, drivers, and real-time passengers.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BFB55-6FFB-24BF-FC26-16756F9C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E555F-2F27-45B3-8C9B-E0FE9428F052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66203-58FD-8CDB-1D75-2688B4B3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D5D761-2FED-7F99-3699-8A324DA6BA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584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1DCD-EEEE-3347-5C0C-10E73A5F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309FA-ECA9-0D37-3075-3DFE51A0B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Real-Time Map Tracking: </a:t>
            </a:r>
            <a:r>
              <a:rPr lang="en-IN" sz="1500" dirty="0">
                <a:latin typeface="Times New Roman"/>
                <a:cs typeface="Times New Roman"/>
              </a:rPr>
              <a:t>Provide passengers with instant Leaflet-based map visualization of route transit.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Monotonic Checkpoints: </a:t>
            </a:r>
            <a:r>
              <a:rPr lang="en-IN" sz="1500" dirty="0">
                <a:latin typeface="Times New Roman"/>
                <a:cs typeface="Times New Roman"/>
              </a:rPr>
              <a:t>Introduce strict stop- progression criteria to filter GPS noise and drift.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Dynamic ETA Projections: </a:t>
            </a:r>
            <a:r>
              <a:rPr lang="en-IN" sz="1500" dirty="0">
                <a:latin typeface="Times New Roman"/>
                <a:cs typeface="Times New Roman"/>
              </a:rPr>
              <a:t>Formulate blended speed algorithms combining live telemetry with schedule baselines.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App </a:t>
            </a:r>
            <a:r>
              <a:rPr lang="en-IN" sz="1500" b="1" dirty="0" err="1">
                <a:latin typeface="Times New Roman"/>
                <a:cs typeface="Times New Roman"/>
              </a:rPr>
              <a:t>Installability</a:t>
            </a:r>
            <a:r>
              <a:rPr lang="en-IN" sz="1500" b="1" dirty="0">
                <a:latin typeface="Times New Roman"/>
                <a:cs typeface="Times New Roman"/>
              </a:rPr>
              <a:t xml:space="preserve">: </a:t>
            </a:r>
            <a:r>
              <a:rPr lang="en-IN" sz="1500" dirty="0">
                <a:latin typeface="Times New Roman"/>
                <a:cs typeface="Times New Roman"/>
              </a:rPr>
              <a:t>Deploy responsive role dashboards as an offline-resilient Progressive Web App (PWA).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F40B-8D9A-3811-177F-61E7CFC6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015C5-18A8-469F-B68B-6A6C54345583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B19C1-E836-3143-E8F6-83D3B2B4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0407FB-5EAD-D102-C031-EE6963360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795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FEA8-C384-12D9-AB4F-914A0FC4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B15C-BAE5-AEC8-6CE9-C41F378D5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Regional Network: </a:t>
            </a:r>
            <a:r>
              <a:rPr lang="en-IN" sz="1500" dirty="0">
                <a:latin typeface="Times New Roman"/>
                <a:cs typeface="Times New Roman"/>
              </a:rPr>
              <a:t xml:space="preserve">Designed for Andhra Pradesh transit operations, </a:t>
            </a:r>
            <a:r>
              <a:rPr lang="en-IN" sz="1500" dirty="0" err="1">
                <a:latin typeface="Times New Roman"/>
                <a:cs typeface="Times New Roman"/>
              </a:rPr>
              <a:t>centered</a:t>
            </a:r>
            <a:r>
              <a:rPr lang="en-IN" sz="1500" dirty="0">
                <a:latin typeface="Times New Roman"/>
                <a:cs typeface="Times New Roman"/>
              </a:rPr>
              <a:t xml:space="preserve"> around the Palasa regional hub.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Comprehensive Routing: </a:t>
            </a:r>
            <a:r>
              <a:rPr lang="en-IN" sz="1500" dirty="0">
                <a:latin typeface="Times New Roman"/>
                <a:cs typeface="Times New Roman"/>
              </a:rPr>
              <a:t>25 major corridors connecting Visakhapatnam, Vijayawada, Rajahmundry, and Tirupati.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Fleet Orchestration: </a:t>
            </a:r>
            <a:r>
              <a:rPr lang="en-IN" sz="1500" dirty="0">
                <a:latin typeface="Times New Roman"/>
                <a:cs typeface="Times New Roman"/>
              </a:rPr>
              <a:t>Simulates continuous trip cycles using a 15-bus fleet to stress-test real-time engines.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Layered Map Fallbacks: </a:t>
            </a:r>
            <a:r>
              <a:rPr lang="en-IN" sz="1500" dirty="0">
                <a:latin typeface="Times New Roman"/>
                <a:cs typeface="Times New Roman"/>
              </a:rPr>
              <a:t>Combines GTFS shape rendering with backend road caches and client-side OSRM queries.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C5961-D989-CCB9-FD83-F855C7B0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71FD-1390-4BA0-9817-771C1FA47802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3A722-16A3-7F28-8B33-145DDBD1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55ACBE-92F0-F66A-20B2-BAA526B703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497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9C14-2B02-B270-5179-DFDBCC78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C786-22BB-A884-8B53-DA2698708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Legacy Tracking Systems: </a:t>
            </a:r>
            <a:r>
              <a:rPr lang="en-IN" sz="1500" dirty="0">
                <a:latin typeface="Times New Roman"/>
                <a:cs typeface="Times New Roman"/>
              </a:rPr>
              <a:t>Hardware-intensive setups that lack real-time integration with standardized schedule schemas.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Static GTFS Constraints: </a:t>
            </a:r>
            <a:r>
              <a:rPr lang="en-IN" sz="1500" dirty="0">
                <a:latin typeface="Times New Roman"/>
                <a:cs typeface="Times New Roman"/>
              </a:rPr>
              <a:t>Timetables remain rigid and fail to adapt dynamically to real-world gridlock or vehicle breakdowns.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Modern Smart Platforms: </a:t>
            </a:r>
            <a:r>
              <a:rPr lang="en-IN" sz="1500" dirty="0">
                <a:latin typeface="Times New Roman"/>
                <a:cs typeface="Times New Roman"/>
              </a:rPr>
              <a:t>Employ GTFS-Realtime for transit alerts, but require stable internet and high infrastructure budgets.</a:t>
            </a:r>
          </a:p>
          <a:p>
            <a:r>
              <a:rPr lang="en-IN" sz="1500" b="1" dirty="0" err="1">
                <a:latin typeface="Times New Roman"/>
                <a:cs typeface="Times New Roman"/>
              </a:rPr>
              <a:t>TransPulse</a:t>
            </a:r>
            <a:r>
              <a:rPr lang="en-IN" sz="1500" b="1" dirty="0">
                <a:latin typeface="Times New Roman"/>
                <a:cs typeface="Times New Roman"/>
              </a:rPr>
              <a:t xml:space="preserve"> Edge: </a:t>
            </a:r>
            <a:r>
              <a:rPr lang="en-IN" sz="1500" dirty="0">
                <a:latin typeface="Times New Roman"/>
                <a:cs typeface="Times New Roman"/>
              </a:rPr>
              <a:t>Introduces high-efficiency, offline-capable mapping and journey transitions at minimal deployment costs.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7CDDA-2D40-BA62-8006-5B7536C1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B930-88B3-44D4-A202-6F4F8CAF65BF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0E2F4-4D03-64AC-6C32-461FDD37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EFD5C-1004-C409-41F8-E5034B45AD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011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DCCA-37C5-B802-67BD-50809562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Data Collection &amp; Ingestion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BCA9F-57F0-F61B-39F7-21618BD0B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Static Schedule Database: </a:t>
            </a:r>
            <a:r>
              <a:rPr lang="en-IN" sz="1500" dirty="0">
                <a:latin typeface="Times New Roman"/>
                <a:cs typeface="Times New Roman"/>
              </a:rPr>
              <a:t>Parses GTFS routes, shapes, stops, trips, and schedules directly into SQLite/PostgreSQL.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Live GPS Telemetry: </a:t>
            </a:r>
            <a:r>
              <a:rPr lang="en-IN" sz="1500" dirty="0">
                <a:latin typeface="Times New Roman"/>
                <a:cs typeface="Times New Roman"/>
              </a:rPr>
              <a:t>Collects latitude, longitude, speed, and heading coordinates broadcast from active driver devices.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Segment History: </a:t>
            </a:r>
            <a:r>
              <a:rPr lang="en-IN" sz="1500" dirty="0">
                <a:latin typeface="Times New Roman"/>
                <a:cs typeface="Times New Roman"/>
              </a:rPr>
              <a:t>Logs historic segment traversal times to continuously retrain the ETA estimation module.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Spatial Polylines: </a:t>
            </a:r>
            <a:r>
              <a:rPr lang="en-IN" sz="1500" dirty="0">
                <a:latin typeface="Times New Roman"/>
                <a:cs typeface="Times New Roman"/>
              </a:rPr>
              <a:t>Stores precise geospatial polyline vectors representing official road networks.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F7C9E-6959-7DF2-0958-3377A79E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8817-4F34-43C2-AFBB-35605F3F6A14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876AD-1BA9-F95A-15CD-7AD191B7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6071DB-0521-6C96-24EB-B0E0C1F611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67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0110-51AF-7502-51AC-6C218D29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System 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629C4-E906-5C86-8EDD-4C2E1CC8F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Client Tracking Loop: </a:t>
            </a:r>
            <a:r>
              <a:rPr lang="en-IN" sz="1500" dirty="0">
                <a:latin typeface="Times New Roman"/>
                <a:cs typeface="Times New Roman"/>
              </a:rPr>
              <a:t>Driver starts trip → Broadcasts GPS telemetry → Backend updates live segment coordinates → Passenger portal pulls update.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>Flowchart:</a:t>
            </a:r>
          </a:p>
          <a:p>
            <a:pPr marL="0" indent="0">
              <a:buNone/>
            </a:pPr>
            <a:endParaRPr lang="en-IN" sz="1500" dirty="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ECD8A-E1BD-594A-43F2-927C69F9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E081-F1B4-4E58-B59A-DB5EA8636B00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32E1F-EF2A-2160-FDB2-EBCAAA8B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BA0A72-4D8C-43BA-8FFD-E292483965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BB392E-0D40-2D24-E949-D97D2CE3E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4" y="2201106"/>
            <a:ext cx="5205161" cy="465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8D49-10AC-9C01-4FAD-F7330B2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/>
                <a:cs typeface="Times New Roman"/>
              </a:rPr>
              <a:t>Architecture Block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DB66-F142-AB58-0A08-67AF99A00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Modular Design: </a:t>
            </a:r>
            <a:r>
              <a:rPr lang="en-IN" sz="1500" dirty="0">
                <a:latin typeface="Times New Roman"/>
                <a:cs typeface="Times New Roman"/>
              </a:rPr>
              <a:t>Consists of the storage layer (SQLite / Memory Cache), REST API controllers, and three client dashboards.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Block Diagram Code: </a:t>
            </a:r>
            <a:r>
              <a:rPr lang="en-IN" sz="1500" dirty="0">
                <a:latin typeface="Times New Roman"/>
                <a:cs typeface="Times New Roman"/>
              </a:rPr>
              <a:t>See Mermaid structure representing the architectural components: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C0D40-7F04-03A5-2DCE-D25BBBF6B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3F38D-1EB3-4DB2-A750-823A1A97BFA2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49A0E-E589-F2DF-8882-F3F874F4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20BEA-D4F0-01C9-E117-A16C361917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892F71-7C09-FF91-00D8-D71BF3F3C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525" y="2587752"/>
            <a:ext cx="2606441" cy="427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47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37D2-C055-A0AE-76BE-F053AD2C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C6ED-3357-EFD8-4B15-44CFEF90A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497"/>
            <a:ext cx="10515600" cy="4623466"/>
          </a:xfrm>
        </p:spPr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Admin Command </a:t>
            </a:r>
            <a:r>
              <a:rPr lang="en-IN" sz="1500" b="1" dirty="0" err="1">
                <a:latin typeface="Times New Roman"/>
                <a:cs typeface="Times New Roman"/>
              </a:rPr>
              <a:t>Center</a:t>
            </a:r>
            <a:r>
              <a:rPr lang="en-IN" sz="1500" b="1" dirty="0">
                <a:latin typeface="Times New Roman"/>
                <a:cs typeface="Times New Roman"/>
              </a:rPr>
              <a:t xml:space="preserve">: </a:t>
            </a:r>
            <a:r>
              <a:rPr lang="en-IN" sz="1500" dirty="0">
                <a:latin typeface="Times New Roman"/>
                <a:cs typeface="Times New Roman"/>
              </a:rPr>
              <a:t>Fleet dashboard for dispatcher assignments, live bus visual tracking, and SOS signal resolution.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Driver Dashboards: </a:t>
            </a:r>
            <a:r>
              <a:rPr lang="en-IN" sz="1500" dirty="0">
                <a:latin typeface="Times New Roman"/>
                <a:cs typeface="Times New Roman"/>
              </a:rPr>
              <a:t>Progress meters showing stop-by-stop timelines, occupancy updates, and automatic route-reversal controls.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Passenger Portal: </a:t>
            </a:r>
            <a:r>
              <a:rPr lang="en-IN" sz="1500" dirty="0">
                <a:latin typeface="Times New Roman"/>
                <a:cs typeface="Times New Roman"/>
              </a:rPr>
              <a:t>Searchable index of transit routes, live schedule alerts, and instant geolocated SOS triggers.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Codebase Repository: </a:t>
            </a:r>
            <a:r>
              <a:rPr lang="en-IN" sz="1500" dirty="0">
                <a:latin typeface="Times New Roman"/>
                <a:cs typeface="Times New Roman"/>
              </a:rPr>
              <a:t xml:space="preserve">Built using Flask backend, </a:t>
            </a:r>
            <a:r>
              <a:rPr lang="en-IN" sz="1500" dirty="0" err="1">
                <a:latin typeface="Times New Roman"/>
                <a:cs typeface="Times New Roman"/>
              </a:rPr>
              <a:t>SQLAlchemy</a:t>
            </a:r>
            <a:r>
              <a:rPr lang="en-IN" sz="1500" dirty="0">
                <a:latin typeface="Times New Roman"/>
                <a:cs typeface="Times New Roman"/>
              </a:rPr>
              <a:t xml:space="preserve"> models, and pure </a:t>
            </a:r>
            <a:r>
              <a:rPr lang="en-IN" sz="1500" dirty="0" err="1">
                <a:latin typeface="Times New Roman"/>
                <a:cs typeface="Times New Roman"/>
              </a:rPr>
              <a:t>LeafletJS</a:t>
            </a:r>
            <a:r>
              <a:rPr lang="en-IN" sz="1500" dirty="0">
                <a:latin typeface="Times New Roman"/>
                <a:cs typeface="Times New Roman"/>
              </a:rPr>
              <a:t>/JavaScript client interfaces.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52C39-8579-8CCB-38A6-30FF6BC3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EC51-D8FE-429D-B538-6D42DB567EFC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68C94-0F26-D10A-70D2-DF88E6B3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8C40E3-0616-FC5B-C382-57C8E7C12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8161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AB7D-6F03-4630-46A2-BB97B39D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Results &amp; 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0008A-34B7-EA7B-EDFB-849962AAB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Dispatch </a:t>
            </a:r>
            <a:r>
              <a:rPr lang="en-IN" sz="1500" b="1" dirty="0" err="1">
                <a:latin typeface="Times New Roman"/>
                <a:cs typeface="Times New Roman"/>
              </a:rPr>
              <a:t>Center</a:t>
            </a:r>
            <a:r>
              <a:rPr lang="en-IN" sz="1500" b="1" dirty="0">
                <a:latin typeface="Times New Roman"/>
                <a:cs typeface="Times New Roman"/>
              </a:rPr>
              <a:t xml:space="preserve">: </a:t>
            </a:r>
            <a:r>
              <a:rPr lang="en-IN" sz="1500" dirty="0">
                <a:latin typeface="Times New Roman"/>
                <a:cs typeface="Times New Roman"/>
              </a:rPr>
              <a:t>Interactive live map showcasing coordinates of all buses in the active transit simulation.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Passenger Timeline: </a:t>
            </a:r>
            <a:r>
              <a:rPr lang="en-IN" sz="1500" dirty="0">
                <a:latin typeface="Times New Roman"/>
                <a:cs typeface="Times New Roman"/>
              </a:rPr>
              <a:t>Step-by-step progress checklist showing stop sequences and color-coded ETA countdown alerts.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Mobile PWA Prompt: </a:t>
            </a:r>
            <a:r>
              <a:rPr lang="en-IN" sz="1500" dirty="0">
                <a:latin typeface="Times New Roman"/>
                <a:cs typeface="Times New Roman"/>
              </a:rPr>
              <a:t xml:space="preserve">Seamless mobile installation trigger allowing users to save </a:t>
            </a:r>
            <a:r>
              <a:rPr lang="en-IN" sz="1500" dirty="0" err="1">
                <a:latin typeface="Times New Roman"/>
                <a:cs typeface="Times New Roman"/>
              </a:rPr>
              <a:t>TransPulse</a:t>
            </a:r>
            <a:r>
              <a:rPr lang="en-IN" sz="1500" dirty="0">
                <a:latin typeface="Times New Roman"/>
                <a:cs typeface="Times New Roman"/>
              </a:rPr>
              <a:t xml:space="preserve"> directly to home screens.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Offline Alert: </a:t>
            </a:r>
            <a:r>
              <a:rPr lang="en-IN" sz="1500" dirty="0">
                <a:latin typeface="Times New Roman"/>
                <a:cs typeface="Times New Roman"/>
              </a:rPr>
              <a:t>Resilient banner showing network disruption alerts and falling back to offline route information.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20085-5E2E-0801-C48C-3123AE6D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F299-9D72-47F9-8A7A-EFB8E8F8EF9B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A51D1-6CB3-B4F9-1515-CA9758CD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23FDF-8E03-E0AE-1C24-7A321DBEAE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023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C339-7109-22A2-C449-4EAB8CD8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Impact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E307A-6D64-2169-AE94-D06854DB7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Technical Impact: </a:t>
            </a:r>
            <a:r>
              <a:rPr lang="en-IN" sz="1500" dirty="0">
                <a:latin typeface="Times New Roman"/>
                <a:cs typeface="Times New Roman"/>
              </a:rPr>
              <a:t>PWA architecture cuts bandwidth requirements. SQLite/PostgreSQL layer ensures stable data retrieval.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Social Impact: </a:t>
            </a:r>
            <a:r>
              <a:rPr lang="en-IN" sz="1500" dirty="0">
                <a:latin typeface="Times New Roman"/>
                <a:cs typeface="Times New Roman"/>
              </a:rPr>
              <a:t>Reduces rider waiting times at isolated stops, improving safety and providing SOS emergency layers.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Economic Impact: </a:t>
            </a:r>
            <a:r>
              <a:rPr lang="en-IN" sz="1500" dirty="0">
                <a:latin typeface="Times New Roman"/>
                <a:cs typeface="Times New Roman"/>
              </a:rPr>
              <a:t>Reduces operational dispatch errors, prevents empty mileage runs, and lowers administrative tracking costs.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49FF7-21AD-45B9-11C8-B23CD9E51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1F96-71CD-4CEB-A453-AFC903363AB7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FE67-A70E-70E3-3F46-A2488861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7ACE34-F113-A962-A26F-C5CFD5FF5D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9317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4A12-A0D7-06D5-FBC6-343B3FF8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Challenges &amp; Mitigations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345A-F78E-0E9D-1B8F-9ED5228FB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Telemetry Noise: </a:t>
            </a:r>
            <a:r>
              <a:rPr lang="en-IN" sz="1500" dirty="0">
                <a:latin typeface="Times New Roman"/>
                <a:cs typeface="Times New Roman"/>
              </a:rPr>
              <a:t>Enforced a strict monotonic stop-matching filter to eliminate coordinate jumps caused by GPS signal drift.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Dynamic State Reversal: </a:t>
            </a:r>
            <a:r>
              <a:rPr lang="en-IN" sz="1500" dirty="0">
                <a:latin typeface="Times New Roman"/>
                <a:cs typeface="Times New Roman"/>
              </a:rPr>
              <a:t>Built automatic shape, stop, and distance sequence inversion when return trips commence.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Offline Operations: </a:t>
            </a:r>
            <a:r>
              <a:rPr lang="en-IN" sz="1500" dirty="0">
                <a:latin typeface="Times New Roman"/>
                <a:cs typeface="Times New Roman"/>
              </a:rPr>
              <a:t>Developed a tiered mapping engine that shifts to OSRM queries or stop-to-stop paths during network drops.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1DEE8-2712-97F8-0AA0-D407B46B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BF22-2CB2-4164-AF8B-6A4D1059DC13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46F4-1131-9BC1-6D0A-6F9F2793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1C8C2-B765-3F27-69DF-415556C21F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6308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16F3-F74C-A352-259B-B4A788B5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FB79-58CF-5340-6358-31F2F2D16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Success: </a:t>
            </a:r>
            <a:r>
              <a:rPr lang="en-IN" sz="1500" dirty="0">
                <a:latin typeface="Times New Roman"/>
                <a:cs typeface="Times New Roman"/>
              </a:rPr>
              <a:t>Created a fully-functional, production-ready Smart Mobility Platform for Andhra Pradesh state transit.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Rigorous Testing: </a:t>
            </a:r>
            <a:r>
              <a:rPr lang="en-IN" sz="1500" dirty="0">
                <a:latin typeface="Times New Roman"/>
                <a:cs typeface="Times New Roman"/>
              </a:rPr>
              <a:t>Successfully validated routing accuracy over 25 distinct corridors using simulated fleet operations.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Enterprise Baseline: </a:t>
            </a:r>
            <a:r>
              <a:rPr lang="en-IN" sz="1500" dirty="0">
                <a:latin typeface="Times New Roman"/>
                <a:cs typeface="Times New Roman"/>
              </a:rPr>
              <a:t>Establishes a highly-scalable, low-cost framework for regional bus transit automation.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CB72-4075-D8FE-FA30-61E1E501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97835-E227-4A81-8A01-A516A9EB8CD9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6ABC5-6C65-1409-EB69-E2FAC169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F3026-24E1-9526-6935-DA510D74B4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795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0666-1392-9333-3018-8197057B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CDF7F-070E-7FCE-AA62-C1973947F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FCM Push Alerts: </a:t>
            </a:r>
            <a:r>
              <a:rPr lang="en-IN" sz="1500" dirty="0">
                <a:latin typeface="Times New Roman"/>
                <a:cs typeface="Times New Roman"/>
              </a:rPr>
              <a:t>Deploy Firebase Cloud Messaging to send real-time delays and emergency notifications to passenger devices.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Machine Learning ETAs: </a:t>
            </a:r>
            <a:r>
              <a:rPr lang="en-IN" sz="1500" dirty="0">
                <a:latin typeface="Times New Roman"/>
                <a:cs typeface="Times New Roman"/>
              </a:rPr>
              <a:t>Incorporate historical travel segment datasets to model traffic and weather anomalies for ETA accuracy.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Eco-Driving Analytics: </a:t>
            </a:r>
            <a:r>
              <a:rPr lang="en-IN" sz="1500" dirty="0">
                <a:latin typeface="Times New Roman"/>
                <a:cs typeface="Times New Roman"/>
              </a:rPr>
              <a:t>Track driver acceleration and braking metrics to improve fuel efficiency and passenger ride comfort.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08B5E-4483-07DB-81C8-839D380A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EFD1-43BA-46A2-BC19-C8E28D2B8CA2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08094-4C4F-2666-5C5E-3A8653E9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329E75-110B-7CF9-13A1-2358F49180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9306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AD2F-7B2B-C452-DECD-919AEC63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BDFA1-988C-7F19-3A28-BB7F45AB2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[1] GTFS Standard: </a:t>
            </a:r>
            <a:r>
              <a:rPr lang="en-IN" sz="1500" dirty="0">
                <a:latin typeface="Times New Roman"/>
                <a:cs typeface="Times New Roman"/>
              </a:rPr>
              <a:t>General Transit Feed Specification Reference, Google Transit Development Group, 2026.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[2] Web Framework: </a:t>
            </a:r>
            <a:r>
              <a:rPr lang="en-IN" sz="1500" dirty="0">
                <a:latin typeface="Times New Roman"/>
                <a:cs typeface="Times New Roman"/>
              </a:rPr>
              <a:t xml:space="preserve">Flask Documentation &amp; Database Orchestration with </a:t>
            </a:r>
            <a:r>
              <a:rPr lang="en-IN" sz="1500" dirty="0" err="1">
                <a:latin typeface="Times New Roman"/>
                <a:cs typeface="Times New Roman"/>
              </a:rPr>
              <a:t>SQLAlchemy</a:t>
            </a:r>
            <a:r>
              <a:rPr lang="en-IN" sz="1500" dirty="0">
                <a:latin typeface="Times New Roman"/>
                <a:cs typeface="Times New Roman"/>
              </a:rPr>
              <a:t>, Pallets Projects, 2026.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[3] Map Rendering: </a:t>
            </a:r>
            <a:r>
              <a:rPr lang="en-IN" sz="1500" dirty="0">
                <a:latin typeface="Times New Roman"/>
                <a:cs typeface="Times New Roman"/>
              </a:rPr>
              <a:t>Leaflet Mobile-Friendly Interactive Mapping, JS Foundation, 2026.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[4] Distance Calculations: </a:t>
            </a:r>
            <a:r>
              <a:rPr lang="en-IN" sz="1500" dirty="0">
                <a:latin typeface="Times New Roman"/>
                <a:cs typeface="Times New Roman"/>
              </a:rPr>
              <a:t>Haversine Geodetic Formulation for Spherical Grid Calculations, 2026.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73FE8-0932-BE50-70F2-DCCFB993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E5EE-CD67-42A0-9A9D-04CE4D439231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A9A61-9870-D7FA-34D9-C5E639AC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63E415-325C-FD52-3C9D-49EB0FD087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9376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66C50-6FD8-DD5F-6FF5-BB9DD6B7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500" b="1" dirty="0">
                <a:latin typeface="Times New Roman"/>
                <a:cs typeface="Times New Roman"/>
              </a:rPr>
              <a:t xml:space="preserve">Project Name: </a:t>
            </a:r>
            <a:r>
              <a:rPr lang="en-IN" sz="1500" dirty="0" err="1">
                <a:latin typeface="Times New Roman"/>
                <a:cs typeface="Times New Roman"/>
              </a:rPr>
              <a:t>TransPulse</a:t>
            </a:r>
            <a:r>
              <a:rPr lang="en-IN" sz="1500" dirty="0">
                <a:latin typeface="Times New Roman"/>
                <a:cs typeface="Times New Roman"/>
              </a:rPr>
              <a:t>: Smart Transit Orchestration Platform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Department: </a:t>
            </a:r>
            <a:r>
              <a:rPr lang="en-IN" sz="1500" dirty="0">
                <a:latin typeface="Times New Roman"/>
                <a:cs typeface="Times New Roman"/>
              </a:rPr>
              <a:t>Data Engineering (CSE-AIML)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Team Members: </a:t>
            </a:r>
            <a:r>
              <a:rPr lang="en-IN" sz="1500" dirty="0" err="1">
                <a:latin typeface="Times New Roman"/>
                <a:cs typeface="Times New Roman"/>
              </a:rPr>
              <a:t>Bendi</a:t>
            </a:r>
            <a:r>
              <a:rPr lang="en-IN" sz="1500" dirty="0">
                <a:latin typeface="Times New Roman"/>
                <a:cs typeface="Times New Roman"/>
              </a:rPr>
              <a:t xml:space="preserve"> Rajesh, Matha Vignan Vamsi, </a:t>
            </a:r>
            <a:r>
              <a:rPr lang="en-IN" sz="1500" dirty="0" err="1">
                <a:latin typeface="Times New Roman"/>
                <a:cs typeface="Times New Roman"/>
              </a:rPr>
              <a:t>Kudupudi</a:t>
            </a:r>
            <a:r>
              <a:rPr lang="en-IN" sz="1500" dirty="0">
                <a:latin typeface="Times New Roman"/>
                <a:cs typeface="Times New Roman"/>
              </a:rPr>
              <a:t xml:space="preserve"> Lakshmi Vinay, </a:t>
            </a:r>
            <a:r>
              <a:rPr lang="en-IN" sz="1500" dirty="0" err="1">
                <a:latin typeface="Times New Roman"/>
                <a:cs typeface="Times New Roman"/>
              </a:rPr>
              <a:t>Gurala</a:t>
            </a:r>
            <a:r>
              <a:rPr lang="en-IN" sz="1500" dirty="0">
                <a:latin typeface="Times New Roman"/>
                <a:cs typeface="Times New Roman"/>
              </a:rPr>
              <a:t xml:space="preserve"> Sravan Kumar</a:t>
            </a:r>
          </a:p>
          <a:p>
            <a:r>
              <a:rPr lang="en-IN" sz="1500" b="1" dirty="0">
                <a:latin typeface="Times New Roman"/>
                <a:cs typeface="Times New Roman"/>
              </a:rPr>
              <a:t xml:space="preserve">Thank You: </a:t>
            </a:r>
            <a:r>
              <a:rPr lang="en-IN" sz="1500" dirty="0">
                <a:latin typeface="Times New Roman"/>
                <a:cs typeface="Times New Roman"/>
              </a:rPr>
              <a:t>We appreciate your time. Please let us know if you have any questions!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389F3-38E7-E345-6C1B-55E8D0E4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3B29-5F07-416A-A1AF-5804B2A93342}" type="datetime1">
              <a:rPr lang="en-IN" smtClean="0"/>
              <a:t>12-07-2026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642DD-AAA8-D382-7575-AA032AC1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8474F-C52C-F540-9F28-9B61158722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357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1217</Words>
  <Application>Microsoft Office PowerPoint</Application>
  <PresentationFormat>Widescreen</PresentationFormat>
  <Paragraphs>136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               Community Project  Branch: CSE-Artificial Intelligence &amp; Machine Learning Department: Data Engineering  Semester: V    Section: A          Regulation: R24             Course Code: R24MSCSP001</vt:lpstr>
      <vt:lpstr>Abstract</vt:lpstr>
      <vt:lpstr>Introduction</vt:lpstr>
      <vt:lpstr>Problem Statement</vt:lpstr>
      <vt:lpstr>Project Objectives</vt:lpstr>
      <vt:lpstr>Project Scope</vt:lpstr>
      <vt:lpstr>Literature Review</vt:lpstr>
      <vt:lpstr>Data Collection &amp; Ingestion</vt:lpstr>
      <vt:lpstr>System Flowchart</vt:lpstr>
      <vt:lpstr>Architecture Block Diagram</vt:lpstr>
      <vt:lpstr>Implementation Details</vt:lpstr>
      <vt:lpstr>Results &amp; Screenshots</vt:lpstr>
      <vt:lpstr>Impact Assessment</vt:lpstr>
      <vt:lpstr>Challenges &amp; Mitigations</vt:lpstr>
      <vt:lpstr>Conclusion</vt:lpstr>
      <vt:lpstr>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Sushma Vatekar</dc:creator>
  <cp:lastModifiedBy>RAJESH BENDI</cp:lastModifiedBy>
  <cp:revision>5</cp:revision>
  <dcterms:created xsi:type="dcterms:W3CDTF">2025-09-22T15:29:51Z</dcterms:created>
  <dcterms:modified xsi:type="dcterms:W3CDTF">2026-07-12T12:15:25Z</dcterms:modified>
</cp:coreProperties>
</file>